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NewsBot</a:t>
            </a:r>
            <a:r>
              <a:rPr lang="en-US" b="1" dirty="0"/>
              <a:t> 2.0 — Multilingual News Intelligence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Final Project — ITAI 2373</a:t>
            </a:r>
          </a:p>
          <a:p>
            <a:r>
              <a:rPr lang="en-US" dirty="0" smtClean="0"/>
              <a:t>Mary Ann Mastri </a:t>
            </a:r>
          </a:p>
          <a:p>
            <a:r>
              <a:rPr lang="en-US" dirty="0" smtClean="0"/>
              <a:t>May 2,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18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What is </a:t>
            </a:r>
            <a:r>
              <a:rPr lang="en-US" sz="2400" b="1" dirty="0" err="1"/>
              <a:t>NewsBot</a:t>
            </a:r>
            <a:r>
              <a:rPr lang="en-US" sz="2400" b="1" dirty="0"/>
              <a:t> 2.0?</a:t>
            </a:r>
            <a:endParaRPr lang="en-US" sz="2400" dirty="0"/>
          </a:p>
          <a:p>
            <a:pPr lvl="0"/>
            <a:r>
              <a:rPr lang="en-US" sz="2400" dirty="0"/>
              <a:t>A multilingual, AI‑powered news analysis platform</a:t>
            </a:r>
          </a:p>
          <a:p>
            <a:pPr lvl="0"/>
            <a:r>
              <a:rPr lang="en-US" sz="2400" dirty="0"/>
              <a:t>Built on top of the midterm </a:t>
            </a:r>
            <a:r>
              <a:rPr lang="en-US" sz="2400" dirty="0" err="1"/>
              <a:t>NewsBot</a:t>
            </a:r>
            <a:endParaRPr lang="en-US" sz="2400" dirty="0"/>
          </a:p>
          <a:p>
            <a:pPr lvl="0"/>
            <a:r>
              <a:rPr lang="en-US" sz="2400" dirty="0"/>
              <a:t>Integrates advanced NLP components</a:t>
            </a:r>
          </a:p>
          <a:p>
            <a:pPr lvl="0"/>
            <a:r>
              <a:rPr lang="en-US" sz="2400" dirty="0"/>
              <a:t>Designed for real‑world media intelligence </a:t>
            </a:r>
            <a:r>
              <a:rPr lang="en-US" sz="2400" dirty="0" smtClean="0"/>
              <a:t>tasks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40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/>
              <a:t>Automate news understanding</a:t>
            </a:r>
          </a:p>
          <a:p>
            <a:pPr lvl="0"/>
            <a:r>
              <a:rPr lang="en-US" sz="2400" dirty="0"/>
              <a:t>Support multilingual content</a:t>
            </a:r>
          </a:p>
          <a:p>
            <a:pPr lvl="0"/>
            <a:r>
              <a:rPr lang="en-US" sz="2400" dirty="0"/>
              <a:t>Provide interactive analysis</a:t>
            </a:r>
          </a:p>
          <a:p>
            <a:pPr lvl="0"/>
            <a:r>
              <a:rPr lang="en-US" sz="2400" dirty="0"/>
              <a:t>Generate insights across articles</a:t>
            </a:r>
          </a:p>
          <a:p>
            <a:pPr lvl="0"/>
            <a:r>
              <a:rPr lang="en-US" sz="2400" dirty="0"/>
              <a:t>Deliver production‑ready </a:t>
            </a:r>
            <a:r>
              <a:rPr lang="en-US" sz="2400" dirty="0" smtClean="0"/>
              <a:t>architecture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072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Pipeline:</a:t>
            </a:r>
            <a:endParaRPr lang="en-US" dirty="0"/>
          </a:p>
          <a:p>
            <a:pPr lvl="0"/>
            <a:r>
              <a:rPr lang="en-US" dirty="0"/>
              <a:t>User Input</a:t>
            </a:r>
          </a:p>
          <a:p>
            <a:pPr lvl="0"/>
            <a:r>
              <a:rPr lang="en-US" dirty="0"/>
              <a:t>Intent Classification</a:t>
            </a:r>
          </a:p>
          <a:p>
            <a:pPr lvl="0"/>
            <a:r>
              <a:rPr lang="en-US" dirty="0"/>
              <a:t>Core NLP Engine</a:t>
            </a:r>
          </a:p>
          <a:p>
            <a:pPr lvl="0"/>
            <a:r>
              <a:rPr lang="en-US" dirty="0"/>
              <a:t>Multilingual Layer</a:t>
            </a:r>
          </a:p>
          <a:p>
            <a:pPr lvl="0"/>
            <a:r>
              <a:rPr lang="en-US" dirty="0"/>
              <a:t>Semantic Search</a:t>
            </a:r>
          </a:p>
          <a:p>
            <a:pPr lvl="0"/>
            <a:r>
              <a:rPr lang="en-US" dirty="0"/>
              <a:t>Content Enhancement</a:t>
            </a:r>
          </a:p>
          <a:p>
            <a:pPr lvl="0"/>
            <a:r>
              <a:rPr lang="en-US" dirty="0"/>
              <a:t>Conversational Interface</a:t>
            </a:r>
          </a:p>
          <a:p>
            <a:pPr lvl="0"/>
            <a:r>
              <a:rPr lang="en-US" dirty="0" smtClean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5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NLP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 err="1"/>
              <a:t>AdvancedNewsClassifier</a:t>
            </a:r>
            <a:endParaRPr lang="en-US" sz="2400" dirty="0"/>
          </a:p>
          <a:p>
            <a:pPr lvl="0"/>
            <a:r>
              <a:rPr lang="en-US" sz="2400" b="1" dirty="0" err="1"/>
              <a:t>TopicDiscoveryEngine</a:t>
            </a:r>
            <a:endParaRPr lang="en-US" sz="2400" dirty="0"/>
          </a:p>
          <a:p>
            <a:pPr lvl="0"/>
            <a:r>
              <a:rPr lang="en-US" sz="2400" b="1" dirty="0" err="1"/>
              <a:t>SentimentEvolutionTracker</a:t>
            </a:r>
            <a:endParaRPr lang="en-US" sz="2400" dirty="0"/>
          </a:p>
          <a:p>
            <a:pPr lvl="0"/>
            <a:r>
              <a:rPr lang="en-US" sz="2400" b="1" dirty="0" err="1"/>
              <a:t>EntityRelationshipMapper</a:t>
            </a:r>
            <a:endParaRPr lang="en-US" sz="2400" dirty="0"/>
          </a:p>
          <a:p>
            <a:pPr lvl="0"/>
            <a:r>
              <a:rPr lang="en-US" sz="2400" b="1" dirty="0" err="1"/>
              <a:t>IntelligentSummarizer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84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AdvancedNewsClassifier</a:t>
            </a:r>
            <a:endParaRPr lang="en-US" sz="2400" dirty="0"/>
          </a:p>
          <a:p>
            <a:pPr lvl="0"/>
            <a:r>
              <a:rPr lang="en-US" sz="2400" dirty="0"/>
              <a:t>TF‑IDF vectorization</a:t>
            </a:r>
          </a:p>
          <a:p>
            <a:pPr lvl="0"/>
            <a:r>
              <a:rPr lang="en-US" sz="2400" dirty="0"/>
              <a:t>Logistic regression</a:t>
            </a:r>
          </a:p>
          <a:p>
            <a:pPr lvl="0"/>
            <a:r>
              <a:rPr lang="en-US" sz="2400" dirty="0"/>
              <a:t>Predicts category + confidence</a:t>
            </a:r>
          </a:p>
          <a:p>
            <a:r>
              <a:rPr lang="en-US" sz="2400" b="1" dirty="0"/>
              <a:t>Example Output:</a:t>
            </a:r>
            <a:endParaRPr lang="en-US" sz="2400" dirty="0"/>
          </a:p>
          <a:p>
            <a:pPr lvl="0"/>
            <a:r>
              <a:rPr lang="en-US" sz="2400" dirty="0"/>
              <a:t>Category: </a:t>
            </a:r>
            <a:r>
              <a:rPr lang="en-US" sz="2400" i="1" dirty="0"/>
              <a:t>Politics</a:t>
            </a:r>
            <a:endParaRPr lang="en-US" sz="2400" dirty="0"/>
          </a:p>
          <a:p>
            <a:pPr lvl="0"/>
            <a:r>
              <a:rPr lang="en-US" sz="2400" dirty="0"/>
              <a:t>Confidence: </a:t>
            </a:r>
            <a:r>
              <a:rPr lang="en-US" sz="2400" i="1" dirty="0" smtClean="0"/>
              <a:t>0.92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1895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</a:t>
            </a:r>
            <a:r>
              <a:rPr lang="en-US" b="1" dirty="0" smtClean="0"/>
              <a:t>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TopicDiscoveryEngine</a:t>
            </a:r>
            <a:endParaRPr lang="en-US" sz="2400" dirty="0"/>
          </a:p>
          <a:p>
            <a:pPr lvl="0"/>
            <a:r>
              <a:rPr lang="en-US" sz="2400" dirty="0" err="1"/>
              <a:t>Gensim</a:t>
            </a:r>
            <a:r>
              <a:rPr lang="en-US" sz="2400" dirty="0"/>
              <a:t> LDA</a:t>
            </a:r>
          </a:p>
          <a:p>
            <a:pPr lvl="0"/>
            <a:r>
              <a:rPr lang="en-US" sz="2400" dirty="0"/>
              <a:t>Identifies dominant themes</a:t>
            </a:r>
          </a:p>
          <a:p>
            <a:r>
              <a:rPr lang="en-US" sz="2400" dirty="0"/>
              <a:t>Supports insight generation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856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Sentiment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SentimentEvolutionTracker</a:t>
            </a:r>
            <a:endParaRPr lang="en-US" sz="2400" dirty="0"/>
          </a:p>
          <a:p>
            <a:pPr lvl="0"/>
            <a:r>
              <a:rPr lang="en-US" sz="2400" dirty="0"/>
              <a:t>VADER sentiment scoring</a:t>
            </a:r>
          </a:p>
          <a:p>
            <a:pPr lvl="0"/>
            <a:r>
              <a:rPr lang="en-US" sz="2400" dirty="0"/>
              <a:t>Compound score</a:t>
            </a:r>
          </a:p>
          <a:p>
            <a:pPr lvl="0"/>
            <a:r>
              <a:rPr lang="en-US" sz="2400" dirty="0"/>
              <a:t>Polarity classification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“Markets fall sharply” → Negative sentiment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0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Entity &amp; Relationship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EntityRelationshipMapper</a:t>
            </a:r>
            <a:endParaRPr lang="en-US" sz="2400" dirty="0"/>
          </a:p>
          <a:p>
            <a:pPr lvl="0"/>
            <a:r>
              <a:rPr lang="en-US" sz="2400" dirty="0" err="1"/>
              <a:t>spaCy</a:t>
            </a:r>
            <a:r>
              <a:rPr lang="en-US" sz="2400" dirty="0"/>
              <a:t> NER</a:t>
            </a:r>
          </a:p>
          <a:p>
            <a:pPr lvl="0"/>
            <a:r>
              <a:rPr lang="en-US" sz="2400" dirty="0"/>
              <a:t>SVO extraction</a:t>
            </a:r>
          </a:p>
          <a:p>
            <a:pPr lvl="0"/>
            <a:r>
              <a:rPr lang="en-US" sz="2400" dirty="0"/>
              <a:t>Lightweight relationship mapping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“Apple acquired Beats”</a:t>
            </a:r>
            <a:br>
              <a:rPr lang="en-US" sz="2400" dirty="0"/>
            </a:br>
            <a:r>
              <a:rPr lang="en-US" sz="2400" dirty="0"/>
              <a:t>→ (Apple — acquired — Beats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096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IntelligentSummarizer</a:t>
            </a:r>
            <a:endParaRPr lang="en-US" sz="2400" dirty="0"/>
          </a:p>
          <a:p>
            <a:pPr lvl="0"/>
            <a:r>
              <a:rPr lang="en-US" sz="2400" dirty="0"/>
              <a:t>Extractive summarization</a:t>
            </a:r>
          </a:p>
          <a:p>
            <a:pPr lvl="0"/>
            <a:r>
              <a:rPr lang="en-US" sz="2400" dirty="0"/>
              <a:t>Summary quality scoring</a:t>
            </a:r>
          </a:p>
          <a:p>
            <a:r>
              <a:rPr lang="en-US" sz="2400" dirty="0"/>
              <a:t>Supports long‑form articles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86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Multilingual 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 smtClean="0"/>
              <a:t>MultilingualProcessor</a:t>
            </a:r>
            <a:endParaRPr lang="en-US" sz="2400" dirty="0" smtClean="0"/>
          </a:p>
          <a:p>
            <a:pPr lvl="0"/>
            <a:r>
              <a:rPr lang="en-US" sz="2400" dirty="0" smtClean="0"/>
              <a:t>Language detection</a:t>
            </a:r>
          </a:p>
          <a:p>
            <a:pPr lvl="0"/>
            <a:r>
              <a:rPr lang="en-US" sz="2400" dirty="0" smtClean="0"/>
              <a:t>Translation to English</a:t>
            </a:r>
          </a:p>
          <a:p>
            <a:pPr lvl="0"/>
            <a:r>
              <a:rPr lang="en-US" sz="2400" dirty="0" smtClean="0"/>
              <a:t>Translation back to original language</a:t>
            </a:r>
          </a:p>
          <a:p>
            <a:r>
              <a:rPr lang="en-US" sz="2400" b="1" dirty="0" err="1" smtClean="0"/>
              <a:t>MultilingualNER</a:t>
            </a:r>
            <a:endParaRPr lang="en-US" sz="2400" dirty="0" smtClean="0"/>
          </a:p>
          <a:p>
            <a:pPr lvl="0"/>
            <a:r>
              <a:rPr lang="en-US" sz="2400" dirty="0" smtClean="0"/>
              <a:t>NER across languages</a:t>
            </a:r>
          </a:p>
          <a:p>
            <a:pPr lvl="0"/>
            <a:r>
              <a:rPr lang="en-US" sz="2400" dirty="0" smtClean="0"/>
              <a:t>Unified output format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157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Semantic Search </a:t>
            </a:r>
            <a:r>
              <a:rPr lang="en-US" b="1" dirty="0" smtClean="0"/>
              <a:t>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SemanticSearchEngine</a:t>
            </a:r>
            <a:endParaRPr lang="en-US" sz="2400" dirty="0"/>
          </a:p>
          <a:p>
            <a:pPr lvl="0"/>
            <a:r>
              <a:rPr lang="en-US" sz="2400" dirty="0"/>
              <a:t>Embedding generation</a:t>
            </a:r>
          </a:p>
          <a:p>
            <a:pPr lvl="0"/>
            <a:r>
              <a:rPr lang="en-US" sz="2400" dirty="0"/>
              <a:t>Cosine similarity search</a:t>
            </a:r>
          </a:p>
          <a:p>
            <a:pPr lvl="0"/>
            <a:r>
              <a:rPr lang="en-US" sz="2400" dirty="0"/>
              <a:t>“Find similar articles” capability</a:t>
            </a:r>
          </a:p>
          <a:p>
            <a:r>
              <a:rPr lang="en-US" sz="2400" b="1" dirty="0"/>
              <a:t>Use Cases:</a:t>
            </a:r>
            <a:endParaRPr lang="en-US" sz="2400" dirty="0"/>
          </a:p>
          <a:p>
            <a:pPr lvl="0"/>
            <a:r>
              <a:rPr lang="en-US" sz="2400" dirty="0"/>
              <a:t>Related news discovery</a:t>
            </a:r>
          </a:p>
          <a:p>
            <a:r>
              <a:rPr lang="en-US" sz="2400" dirty="0"/>
              <a:t>Trend analysis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5975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Conversational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err="1"/>
              <a:t>ConversationalInterface</a:t>
            </a:r>
            <a:endParaRPr lang="en-US" sz="2400" dirty="0"/>
          </a:p>
          <a:p>
            <a:pPr lvl="0"/>
            <a:r>
              <a:rPr lang="en-US" sz="2400" dirty="0"/>
              <a:t>Natural language queries</a:t>
            </a:r>
          </a:p>
          <a:p>
            <a:pPr lvl="0"/>
            <a:r>
              <a:rPr lang="en-US" sz="2400" dirty="0"/>
              <a:t>Intent routing</a:t>
            </a:r>
          </a:p>
          <a:p>
            <a:pPr lvl="0"/>
            <a:r>
              <a:rPr lang="en-US" sz="2400" dirty="0"/>
              <a:t>Full article analysis wrapper</a:t>
            </a:r>
          </a:p>
          <a:p>
            <a:r>
              <a:rPr lang="en-US" sz="2400" b="1" dirty="0"/>
              <a:t>Intent Examples:</a:t>
            </a:r>
            <a:endParaRPr lang="en-US" sz="2400" dirty="0"/>
          </a:p>
          <a:p>
            <a:pPr lvl="0"/>
            <a:r>
              <a:rPr lang="en-US" sz="2400" dirty="0"/>
              <a:t>“What is the sentiment?”</a:t>
            </a:r>
          </a:p>
          <a:p>
            <a:pPr lvl="0"/>
            <a:r>
              <a:rPr lang="en-US" sz="2400" dirty="0"/>
              <a:t>“Summarize this article.”</a:t>
            </a:r>
          </a:p>
          <a:p>
            <a:pPr lvl="0"/>
            <a:r>
              <a:rPr lang="en-US" sz="2400" dirty="0"/>
              <a:t>“Show me the topics</a:t>
            </a:r>
            <a:r>
              <a:rPr lang="en-US" sz="2400" dirty="0" smtClean="0"/>
              <a:t>.”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734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Full Article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analyze_article</a:t>
            </a:r>
            <a:r>
              <a:rPr lang="en-US" sz="2400" b="1" dirty="0"/>
              <a:t>() returns:</a:t>
            </a:r>
            <a:endParaRPr lang="en-US" sz="2400" dirty="0"/>
          </a:p>
          <a:p>
            <a:pPr lvl="0"/>
            <a:r>
              <a:rPr lang="en-US" sz="2400" dirty="0"/>
              <a:t>Classification</a:t>
            </a:r>
          </a:p>
          <a:p>
            <a:pPr lvl="0"/>
            <a:r>
              <a:rPr lang="en-US" sz="2400" dirty="0"/>
              <a:t>Topics</a:t>
            </a:r>
          </a:p>
          <a:p>
            <a:pPr lvl="0"/>
            <a:r>
              <a:rPr lang="en-US" sz="2400" dirty="0"/>
              <a:t>Sentiment</a:t>
            </a:r>
          </a:p>
          <a:p>
            <a:pPr lvl="0"/>
            <a:r>
              <a:rPr lang="en-US" sz="2400" dirty="0"/>
              <a:t>Entities</a:t>
            </a:r>
          </a:p>
          <a:p>
            <a:pPr lvl="0"/>
            <a:r>
              <a:rPr lang="en-US" sz="2400" dirty="0"/>
              <a:t>Relationships</a:t>
            </a:r>
          </a:p>
          <a:p>
            <a:pPr lvl="0"/>
            <a:r>
              <a:rPr lang="en-US" sz="2400" dirty="0" smtClean="0"/>
              <a:t>Summary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9005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ContentEnhancer</a:t>
            </a:r>
            <a:endParaRPr lang="en-US" sz="2400" dirty="0"/>
          </a:p>
          <a:p>
            <a:pPr lvl="0"/>
            <a:r>
              <a:rPr lang="en-US" sz="2400" dirty="0"/>
              <a:t>Multi‑article insights</a:t>
            </a:r>
          </a:p>
          <a:p>
            <a:pPr lvl="0"/>
            <a:r>
              <a:rPr lang="en-US" sz="2400" dirty="0"/>
              <a:t>Topic clustering</a:t>
            </a:r>
          </a:p>
          <a:p>
            <a:pPr lvl="0"/>
            <a:r>
              <a:rPr lang="en-US" sz="2400" dirty="0"/>
              <a:t>High‑level summaries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10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&amp;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Test Suite Includes:</a:t>
            </a:r>
            <a:endParaRPr lang="en-US" sz="2400" dirty="0"/>
          </a:p>
          <a:p>
            <a:pPr lvl="0"/>
            <a:r>
              <a:rPr lang="en-US" sz="2400" dirty="0"/>
              <a:t>Component tests</a:t>
            </a:r>
          </a:p>
          <a:p>
            <a:pPr lvl="0"/>
            <a:r>
              <a:rPr lang="en-US" sz="2400" dirty="0"/>
              <a:t>Integration test</a:t>
            </a:r>
          </a:p>
          <a:p>
            <a:pPr lvl="0"/>
            <a:r>
              <a:rPr lang="en-US" sz="2400" dirty="0"/>
              <a:t>Performance test</a:t>
            </a:r>
          </a:p>
          <a:p>
            <a:pPr lvl="0"/>
            <a:r>
              <a:rPr lang="en-US" sz="2400" dirty="0"/>
              <a:t>Edge case </a:t>
            </a:r>
            <a:r>
              <a:rPr lang="en-US" sz="2400" dirty="0" smtClean="0"/>
              <a:t>tests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5701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 </a:t>
            </a:r>
            <a:r>
              <a:rPr lang="en-US" b="1" dirty="0" smtClean="0"/>
              <a:t>Highlights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Full article analysis</a:t>
            </a:r>
          </a:p>
          <a:p>
            <a:pPr lvl="0"/>
            <a:r>
              <a:rPr lang="en-US" dirty="0"/>
              <a:t>Multilingual processing</a:t>
            </a:r>
          </a:p>
          <a:p>
            <a:pPr lvl="0"/>
            <a:r>
              <a:rPr lang="en-US" dirty="0"/>
              <a:t>Semantic search</a:t>
            </a:r>
          </a:p>
          <a:p>
            <a:pPr lvl="0"/>
            <a:r>
              <a:rPr lang="en-US" dirty="0"/>
              <a:t>Insight generation</a:t>
            </a:r>
          </a:p>
          <a:p>
            <a:pPr lvl="0"/>
            <a:r>
              <a:rPr lang="en-US" dirty="0"/>
              <a:t>Conversational </a:t>
            </a:r>
            <a:r>
              <a:rPr lang="en-US" dirty="0" smtClean="0"/>
              <a:t>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365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Multilingual translation accuracy</a:t>
            </a:r>
          </a:p>
          <a:p>
            <a:pPr lvl="0"/>
            <a:r>
              <a:rPr lang="en-US" sz="2400" dirty="0"/>
              <a:t>Topic model tuning</a:t>
            </a:r>
          </a:p>
          <a:p>
            <a:pPr lvl="0"/>
            <a:r>
              <a:rPr lang="en-US" sz="2400" dirty="0"/>
              <a:t>Embedding performance</a:t>
            </a:r>
          </a:p>
          <a:p>
            <a:pPr lvl="0"/>
            <a:r>
              <a:rPr lang="en-US" sz="2400" dirty="0"/>
              <a:t>Integration complexity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708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Web application frontend</a:t>
            </a:r>
          </a:p>
          <a:p>
            <a:pPr lvl="0"/>
            <a:r>
              <a:rPr lang="en-US" dirty="0"/>
              <a:t>Deep learning summarization</a:t>
            </a:r>
          </a:p>
          <a:p>
            <a:pPr lvl="0"/>
            <a:r>
              <a:rPr lang="en-US" dirty="0"/>
              <a:t>Real‑time news ingestion</a:t>
            </a:r>
          </a:p>
          <a:p>
            <a:r>
              <a:rPr lang="en-US" dirty="0"/>
              <a:t>Knowledge graph visualization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974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err="1"/>
              <a:t>NewsBot</a:t>
            </a:r>
            <a:r>
              <a:rPr lang="en-US" sz="2400" dirty="0"/>
              <a:t> 2.0 meets all project requirements</a:t>
            </a:r>
          </a:p>
          <a:p>
            <a:pPr lvl="0"/>
            <a:r>
              <a:rPr lang="en-US" sz="2400" dirty="0"/>
              <a:t>Demonstrates advanced NLP mastery</a:t>
            </a:r>
          </a:p>
          <a:p>
            <a:pPr lvl="0"/>
            <a:r>
              <a:rPr lang="en-US" sz="2400" dirty="0"/>
              <a:t>Production‑ready architecture</a:t>
            </a:r>
          </a:p>
          <a:p>
            <a:pPr lvl="0"/>
            <a:r>
              <a:rPr lang="en-US" sz="2400" dirty="0"/>
              <a:t>Strong portfolio </a:t>
            </a:r>
            <a:r>
              <a:rPr lang="en-US" sz="2400" dirty="0" smtClean="0"/>
              <a:t>project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0636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329</Words>
  <Application>Microsoft Office PowerPoint</Application>
  <PresentationFormat>Widescreen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Wisp</vt:lpstr>
      <vt:lpstr>NewsBot 2.0 — Multilingual News Intelligence System</vt:lpstr>
      <vt:lpstr>Project Overview</vt:lpstr>
      <vt:lpstr>System Goals</vt:lpstr>
      <vt:lpstr>Architecture Overview</vt:lpstr>
      <vt:lpstr>Core NLP Components</vt:lpstr>
      <vt:lpstr>Classification</vt:lpstr>
      <vt:lpstr>Topic Modeling</vt:lpstr>
      <vt:lpstr>Sentiment Analysis </vt:lpstr>
      <vt:lpstr>Entity &amp; Relationship Extraction</vt:lpstr>
      <vt:lpstr>Summarization</vt:lpstr>
      <vt:lpstr>Multilingual Intelligence</vt:lpstr>
      <vt:lpstr>Semantic Search Engine</vt:lpstr>
      <vt:lpstr>Conversational Interface</vt:lpstr>
      <vt:lpstr>Full Article Analysis</vt:lpstr>
      <vt:lpstr>Insights Engine</vt:lpstr>
      <vt:lpstr>Testing &amp; Evaluation</vt:lpstr>
      <vt:lpstr>Demo Highlights</vt:lpstr>
      <vt:lpstr>Challenges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2.0 — Multilingual News Intelligence System</dc:title>
  <dc:creator>MARY ANN</dc:creator>
  <cp:lastModifiedBy>MARY ANN</cp:lastModifiedBy>
  <cp:revision>2</cp:revision>
  <dcterms:created xsi:type="dcterms:W3CDTF">2026-05-03T03:10:54Z</dcterms:created>
  <dcterms:modified xsi:type="dcterms:W3CDTF">2026-05-03T03:26:13Z</dcterms:modified>
</cp:coreProperties>
</file>